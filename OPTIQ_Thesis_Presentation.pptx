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0"/>
            <a:ext cx="5669280" cy="7315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5070348"/>
            <a:ext cx="5669280" cy="7315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11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Djilali Liabès University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 Bel-Abbès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834640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MIMOUNI Farah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MEDDAH Amina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283464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Kaouter Labed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Sarra Itidal Abbou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731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of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Fractionation Processes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4904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4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Approaches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749040" y="3703320"/>
            <a:ext cx="2468880" cy="3840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1275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886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Fractionation?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principles &amp; industrial 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673352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It?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2002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industrial sectors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78024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478024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2496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vs. Purity — the core tension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82696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28269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Perspective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archived data to intelligence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87368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087368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" y="4105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Flexibility Problem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parameters fail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868680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868680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0952" y="886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The GPS Concept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673352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673352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30952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OPTIQ Prototype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0952" y="2002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new features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2478024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478024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30952" y="2496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Validation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30952" y="2807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optimization gains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3282696"/>
            <a:ext cx="438912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28269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30952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OPTIQ Startup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30952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Fractionation?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fractionation is the controlled separation of a feed mixture into high-value products by exploiting differences in physicochemical properties — primarily boiling points.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73352"/>
            <a:ext cx="438912" cy="43891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73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64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Stream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mixture enters the column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438912" cy="43891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76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Distil. Column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505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Trays separate by boiling point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38912" cy="43891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♨️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8712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Reboiler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drives upward vapor 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438912" cy="43891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83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❄️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Cools vapor into liquid products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438912" cy="43891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Reflux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315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liquid for purity control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685800"/>
            <a:ext cx="777240" cy="3474720"/>
          </a:xfrm>
          <a:prstGeom prst="rect">
            <a:avLst/>
          </a:prstGeom>
          <a:solidFill>
            <a:srgbClr val="D6EAF8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1234440"/>
            <a:ext cx="685800" cy="0"/>
          </a:xfrm>
          <a:prstGeom prst="line">
            <a:avLst/>
          </a:prstGeom>
          <a:noFill/>
          <a:ln w="12700">
            <a:solidFill>
              <a:srgbClr val="00A8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1783080"/>
            <a:ext cx="685800" cy="0"/>
          </a:xfrm>
          <a:prstGeom prst="line">
            <a:avLst/>
          </a:prstGeom>
          <a:noFill/>
          <a:ln w="12700">
            <a:solidFill>
              <a:srgbClr val="00A8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331720"/>
            <a:ext cx="685800" cy="0"/>
          </a:xfrm>
          <a:prstGeom prst="line">
            <a:avLst/>
          </a:prstGeom>
          <a:noFill/>
          <a:ln w="12700">
            <a:solidFill>
              <a:srgbClr val="00A8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2880360"/>
            <a:ext cx="685800" cy="0"/>
          </a:xfrm>
          <a:prstGeom prst="line">
            <a:avLst/>
          </a:prstGeom>
          <a:noFill/>
          <a:ln w="12700">
            <a:solidFill>
              <a:srgbClr val="00A8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3429000"/>
            <a:ext cx="685800" cy="0"/>
          </a:xfrm>
          <a:prstGeom prst="line">
            <a:avLst/>
          </a:prstGeom>
          <a:noFill/>
          <a:ln w="12700">
            <a:solidFill>
              <a:srgbClr val="00A8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331720"/>
            <a:ext cx="77724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960120"/>
            <a:ext cx="64008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822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3886200"/>
            <a:ext cx="640080" cy="0"/>
          </a:xfrm>
          <a:prstGeom prst="line">
            <a:avLst/>
          </a:prstGeom>
          <a:noFill/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3749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0" y="4160520"/>
            <a:ext cx="777240" cy="45720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4160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0" y="228600"/>
            <a:ext cx="777240" cy="411480"/>
          </a:xfrm>
          <a:prstGeom prst="rect">
            <a:avLst/>
          </a:prstGeom>
          <a:solidFill>
            <a:srgbClr val="D6EAF8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286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More purity requires exponentially more energy — the fundamental trade-off we optimize.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Fractionation?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1737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🛢️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377440" y="987552"/>
            <a:ext cx="621792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9875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LNG &amp; Petrochemistry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 separation at very large scale — highest energy intensity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743200" cy="1737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⛽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212080" y="987552"/>
            <a:ext cx="621792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9875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Oil &amp; Gas Refining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distillation — multiple product cuts from naphtha to fuel oil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914400"/>
            <a:ext cx="2743200" cy="1737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⚗️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046720" y="987552"/>
            <a:ext cx="621792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9875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Petrochemicals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purity control for chemical feedstocks and polymers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83080" y="2926080"/>
            <a:ext cx="2743200" cy="1737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8308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840480" y="2999232"/>
            <a:ext cx="621792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299923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7452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Pharmaceuticals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74520" y="3959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purification — ultra-strict purity standards (cGMP compliance)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926080"/>
            <a:ext cx="2743200" cy="1737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1772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🥫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6675120" y="2999232"/>
            <a:ext cx="621792" cy="3200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99923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&amp; Beverage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3959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distillation, flavour extraction, solvent recovery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share by industrial segment — Source: IEA, McKinsey Industry Reports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Challenge: Making Fractionation More Efficient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2103120" cy="192024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40–50%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plant energy consumed by fractionation alone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185062"/>
            <a:ext cx="475488" cy="142097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98389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15184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658722"/>
            <a:ext cx="475488" cy="947318"/>
          </a:xfrm>
          <a:prstGeom prst="rect">
            <a:avLst/>
          </a:prstGeom>
          <a:solidFill>
            <a:srgbClr val="8FB4D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45755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9544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0" y="2064715"/>
            <a:ext cx="475488" cy="541325"/>
          </a:xfrm>
          <a:prstGeom prst="rect">
            <a:avLst/>
          </a:prstGeom>
          <a:solidFill>
            <a:srgbClr val="8FB4D9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863547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3904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34840" y="2301545"/>
            <a:ext cx="475488" cy="304495"/>
          </a:xfrm>
          <a:prstGeom prst="rect">
            <a:avLst/>
          </a:prstGeom>
          <a:solidFill>
            <a:srgbClr val="8FB4D9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2100377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98264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0" y="2436876"/>
            <a:ext cx="475488" cy="169164"/>
          </a:xfrm>
          <a:prstGeom prst="rect">
            <a:avLst/>
          </a:prstGeom>
          <a:solidFill>
            <a:srgbClr val="8FB4D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357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92624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29718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distribution in industrial plants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86868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868680"/>
            <a:ext cx="54864" cy="1234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Energy Burden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13075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Fractionation consumes 40–50% of plant energy. Efficiency improvements have direct economic and environmental impact.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19456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2194560"/>
            <a:ext cx="54864" cy="1234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Purity vs. Energy Trade-off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26334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Non-linear: chasing higher purity drives exponentially higher energy costs. Hard to optimize manually.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352044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3520440"/>
            <a:ext cx="54864" cy="1234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Data-Rich, Underused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39593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sensor readings go to archive. No system uses this intelligence to improve daily operations.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DOE &amp; IEA Industrial Energy Studies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Data-Driven Perspective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multidisciplinary challenge — chemical, physics, mechanical, and mathematical engineers all contribute.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adds a new dimension: learning from data to continuously improve the process.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554480" cy="2560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155448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97180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sensor readings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(years of operation)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84832" y="1600200"/>
            <a:ext cx="1554480" cy="2560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84832" y="1600200"/>
            <a:ext cx="155448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84832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57984" y="23774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57984" y="297180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LSTM, GRU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process behavior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66744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03904" y="1600200"/>
            <a:ext cx="1554480" cy="2560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03904" y="1600200"/>
            <a:ext cx="155448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0" name="Text 18"/>
          <p:cNvSpPr/>
          <p:nvPr/>
        </p:nvSpPr>
        <p:spPr>
          <a:xfrm>
            <a:off x="3803904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77056" y="23774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77056" y="297180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Purity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operating point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85816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22976" y="1600200"/>
            <a:ext cx="1554480" cy="2560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1600200"/>
            <a:ext cx="155448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96128" y="23774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96128" y="297180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best setpoints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04888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42048" y="1600200"/>
            <a:ext cx="1554480" cy="2560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42048" y="1600200"/>
            <a:ext cx="155448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2" name="Text 30"/>
          <p:cNvSpPr/>
          <p:nvPr/>
        </p:nvSpPr>
        <p:spPr>
          <a:xfrm>
            <a:off x="7242048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👷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315200" y="23774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297180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&amp; applies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years of archived data into actionable intelligence — minimize energy while guaranteeing product purity.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Static Parameters Are Not Enough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Engineers Operate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" cy="4114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399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 sets parameters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experience and empirical rules — no real-time data support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411480" cy="4114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112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Setpoints remain static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350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parameters used day after day, regardless of changing conditions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43784"/>
            <a:ext cx="411480" cy="4114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2825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changes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composition varies, ambient temperature shifts, demand fluctuates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57016"/>
            <a:ext cx="411480" cy="4114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" y="3538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 wear, sensors drift, column efficiency degrades over 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70248"/>
            <a:ext cx="411480" cy="4114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Flexibility problem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4489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parameters in a dynamic world — suboptimal and reactive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Performance Gap Over Time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1417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0680" y="1417320"/>
            <a:ext cx="2633472" cy="292608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31" name="Text 29"/>
          <p:cNvSpPr/>
          <p:nvPr/>
        </p:nvSpPr>
        <p:spPr>
          <a:xfrm>
            <a:off x="8147304" y="14173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40680" y="172821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equipment, tuned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20939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2093976"/>
            <a:ext cx="2282342" cy="292608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35" name="Text 33"/>
          <p:cNvSpPr/>
          <p:nvPr/>
        </p:nvSpPr>
        <p:spPr>
          <a:xfrm>
            <a:off x="7796174" y="20939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24048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drift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277063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40680" y="2770632"/>
            <a:ext cx="1843430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7357262" y="27706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40680" y="308152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varies, no adapt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344728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40680" y="3447288"/>
            <a:ext cx="1492301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7006133" y="3447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375818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41239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0680" y="4123944"/>
            <a:ext cx="1111910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7" name="Text 45"/>
          <p:cNvSpPr/>
          <p:nvPr/>
        </p:nvSpPr>
        <p:spPr>
          <a:xfrm>
            <a:off x="6625742" y="4123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443484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loss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Think of a GPS for Your Plant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3931920" cy="54864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GPS Navigation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Reads real-time road conditions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Recalculates optimal route continuously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Detects traffic jams &amp; reroutes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Gets you there efficiently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2286000"/>
            <a:ext cx="822960" cy="82296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914400"/>
            <a:ext cx="3931920" cy="35661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914400"/>
            <a:ext cx="393192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OPTIQ Optimization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Reads real-time sensor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Continuously re-optimizes setpoints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Detects disturbances &amp; re-recommends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Engineer applies — process stays optimal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OPTIQ is not an autopilot — it empowers engineers with data-driven guidance they can trust.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OPTIQ —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1298448" cy="822960"/>
          </a:xfrm>
          <a:prstGeom prst="rect">
            <a:avLst/>
          </a:prstGeom>
          <a:solidFill>
            <a:srgbClr val="1C3A5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" y="8229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DCS/SCADA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27632" y="91440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64792" y="822960"/>
            <a:ext cx="1298448" cy="822960"/>
          </a:xfrm>
          <a:prstGeom prst="rect">
            <a:avLst/>
          </a:prstGeom>
          <a:solidFill>
            <a:srgbClr val="00A8C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01368" y="8229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72384" y="91440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9544" y="822960"/>
            <a:ext cx="1298448" cy="822960"/>
          </a:xfrm>
          <a:prstGeom prst="rect">
            <a:avLst/>
          </a:prstGeom>
          <a:solidFill>
            <a:srgbClr val="00A8C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8229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17136" y="91440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822960"/>
            <a:ext cx="1298448" cy="8229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8229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61888" y="91440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9048" y="822960"/>
            <a:ext cx="1298448" cy="82296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35624" y="8229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Optimization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06640" y="91440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43800" y="822960"/>
            <a:ext cx="1298448" cy="822960"/>
          </a:xfrm>
          <a:prstGeom prst="rect">
            <a:avLst/>
          </a:prstGeom>
          <a:solidFill>
            <a:srgbClr val="00D9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0376" y="8229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Engineer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87452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874520"/>
            <a:ext cx="4160520" cy="411480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Prediction Layer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XGBoost Surrogate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2651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R² — fast enough for real-time inference. Trained on historical sensor data.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LSTM / VA-LSTM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capturing temporal dynamics of the distillation process.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Outputs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(kJ/kg) + Product purity (%) predicted simultaneously.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1874520"/>
            <a:ext cx="4251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1874520"/>
            <a:ext cx="4251960" cy="41148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8745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Optimization Layer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Differential Evolution (DE)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26517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 global optimizer — finds optimal setpoints without local-optima traps.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154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Move Suppression Penalty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3429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setpoint changes, ensuring smooth and safe transitions for operators.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3931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Outputs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9160" y="4206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setpoints + predicted energy savings % + purity improvement %.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OPTIQ Prototype — New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of the Decision Support System with three key new capabilities: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117043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54864" cy="1170432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98448"/>
            <a:ext cx="438912" cy="438912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280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&amp; When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2801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run, every applied recommendation, every setpoint change — logged with username, timestamp, and role. Complete traceability for regulatory compliance and operational review.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8503920" cy="117043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50592"/>
            <a:ext cx="54864" cy="1170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2542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00200" y="2523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 Applied It" Button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FOPDT Process Tracker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54203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clicks once to confirm. System launches a First-Order Plus Dead Time simulation tracking actual DCS readings at +5, +15, and +30 minutes to verify the process responds as predicted.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8503920" cy="1170432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12464"/>
            <a:ext cx="54864" cy="11704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22192"/>
            <a:ext cx="438912" cy="43891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803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00200" y="3785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Multi-Column Support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Across the Train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803904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one debutanizer — the full fractionation train. Engineers switch between columns (DC3, DC4, DC5...) from one dashboard, with column-specific models and setpoint advisors.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41832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&gt; 0.97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230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41832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&gt; 0.95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6230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941832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– 15%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6230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Optimization Run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8686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941832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6230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4937760" cy="3474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957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Model Benchmark (Test Set)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4937760" cy="2148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Purity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(VA-LSTM)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40680" y="2395728"/>
            <a:ext cx="3383280" cy="3474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5440680" y="2395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Results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40680" y="2788920"/>
            <a:ext cx="3383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32120" y="2816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63840" y="28163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40680" y="3300984"/>
            <a:ext cx="3383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3212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gain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63840" y="33284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+0.4%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40680" y="3813048"/>
            <a:ext cx="3383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3840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Butane recovery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63840" y="38404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+2.1%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40680" y="4325112"/>
            <a:ext cx="3383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C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32120" y="43525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63840" y="43525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 sec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20040" y="478231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DC4 Butane Debutanizer — Sonatrach LNG plant dataset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OPTIQ — From Thesis to Startup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73152" cy="73152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Algeria. Designed for global industry.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SaaS Subscription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of verified energy savings shared with OPTIQ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Integration Fee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deployment &amp; operator 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Annual AI Updates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45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&amp; optimization refresh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ROI in 6 Months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saves 96M DZD/yr → OPTIQ earns 14.4M DZD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60520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97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416052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554480"/>
            <a:ext cx="54864" cy="7132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15819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18470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OPTIQ DSS v1.0 · First industrial partner · IP protection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350008"/>
            <a:ext cx="4160520" cy="713232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2350008"/>
            <a:ext cx="54864" cy="7132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23774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2386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264261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case study · Mobile app · Seed funding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145536"/>
            <a:ext cx="4160520" cy="71323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3145536"/>
            <a:ext cx="54864" cy="7132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04" y="3172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3-5 Paying Clients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43814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filing · Sector expansion · Recurring revenue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941064"/>
            <a:ext cx="4160520" cy="713232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3941064"/>
            <a:ext cx="54864" cy="7132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18304" y="396849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3Y+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MENA &amp; Global Scale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42336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optimization · Global SaaS · Autonomous mode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Multi-billion global industrial AI optimization market  |  LNG 38%  ·  Petroleum 33%  ·  Petrochem 15%  |  No dominant AI-native leader yet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optiQ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"Empowering Industry with AI"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788920"/>
            <a:ext cx="5486400" cy="36576"/>
          </a:xfrm>
          <a:prstGeom prst="rect">
            <a:avLst/>
          </a:prstGeom>
          <a:solidFill>
            <a:srgbClr val="00A8C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MIMOUNI Farah   ·   MEDDAH Amina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Djilali Liabès University, Sidi Bel-Abbès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Kaouter Labed  &amp;  Dr. Sarra Itidal Abbou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limounifarah@gmail.com   ·   LinkedIn: farah mimouni   ·   Startup 1275 Programme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of Fractionation Processes — Data-Driven Approaches</dc:title>
  <dc:subject>PptxGenJS Presentation</dc:subject>
  <dc:creator>MIMOUNI Farah &amp; MEDDAH Amina</dc:creator>
  <cp:lastModifiedBy>MIMOUNI Farah &amp; MEDDAH Amina</cp:lastModifiedBy>
  <cp:revision>1</cp:revision>
  <dcterms:created xsi:type="dcterms:W3CDTF">2026-06-12T18:19:21Z</dcterms:created>
  <dcterms:modified xsi:type="dcterms:W3CDTF">2026-06-12T18:19:21Z</dcterms:modified>
</cp:coreProperties>
</file>